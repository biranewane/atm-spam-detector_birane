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Nombre de messages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Ham (normal)</c:v>
                  </c:pt>
                  <c:pt idx="1">
                    <c:v>Spam (indésirable)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4825</c:v>
                </c:pt>
                <c:pt idx="1">
                  <c:v>747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0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0F6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4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92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8892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GAP 🏆</c:v>
                  </c:pt>
                  <c:pt idx="1">
                    <c:v>LSTM</c:v>
                  </c:pt>
                  <c:pt idx="2">
                    <c:v>Transfer Learning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0.9857</c:v>
                </c:pt>
                <c:pt idx="1">
                  <c:v>0.9659</c:v>
                </c:pt>
                <c:pt idx="2">
                  <c:v>0.9587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GAP 🏆</c:v>
                  </c:pt>
                  <c:pt idx="1">
                    <c:v>LSTM</c:v>
                  </c:pt>
                  <c:pt idx="2">
                    <c:v>Transfer Learning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0.9716</c:v>
                </c:pt>
                <c:pt idx="1">
                  <c:v>0.9237</c:v>
                </c:pt>
                <c:pt idx="2">
                  <c:v>0.8601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GAP 🏆</c:v>
                  </c:pt>
                  <c:pt idx="1">
                    <c:v>LSTM</c:v>
                  </c:pt>
                  <c:pt idx="2">
                    <c:v>Transfer Learning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0.9195</c:v>
                </c:pt>
                <c:pt idx="1">
                  <c:v>0.8121</c:v>
                </c:pt>
                <c:pt idx="2">
                  <c:v>0.8255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GAP 🏆</c:v>
                  </c:pt>
                  <c:pt idx="1">
                    <c:v>LSTM</c:v>
                  </c:pt>
                  <c:pt idx="2">
                    <c:v>Transfer Learning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0.9448</c:v>
                </c:pt>
                <c:pt idx="1">
                  <c:v>0.8643</c:v>
                </c:pt>
                <c:pt idx="2">
                  <c:v>0.8425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0F6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8"/>
        </c:scaling>
        <c:delete val="0"/>
        <c:axPos val="l"/>
        <c:majorGridlines>
          <c:spPr>
            <a:ln w="6350" cap="flat">
              <a:solidFill>
                <a:srgbClr val="1E24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892A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9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D2520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743200"/>
            <a:ext cx="2286000" cy="22860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SMS spam 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NLP — Projet AT&amp;T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  ·  NLP  ·  TensorFlow / Keras  ·  Transfer Learning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36576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2240280"/>
            <a:ext cx="2816352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64008" cy="6583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951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5 572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38658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annotés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2240280"/>
            <a:ext cx="2816352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2240280"/>
            <a:ext cx="64008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2951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13,4 %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238658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spam (déséquilibré)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2240280"/>
            <a:ext cx="2816352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240280"/>
            <a:ext cx="64008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2951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89520" y="238658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comparés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2816352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17520"/>
            <a:ext cx="6400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07238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0,9448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45920" y="316382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final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816352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017520"/>
            <a:ext cx="64008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07238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0,9195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617720" y="316382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(9 spams/10 détectés)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816352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017520"/>
            <a:ext cx="64008" cy="6583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07238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0,9716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589520" y="316382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(4 FP / 1115)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840480"/>
            <a:ext cx="8641080" cy="713232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840480"/>
            <a:ext cx="64008" cy="7132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3867912"/>
            <a:ext cx="8458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automatiquement si un SMS est un message normal ou indésirable à partir de son seul contenu textuel.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663440"/>
            <a:ext cx="8641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Birane WANE  ·  JEDHA Bootcamp  ·  Bloc 4  ·  Présentation 5 min + Q&amp;R 5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automatiquement les messages indésirables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8686800" cy="804672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73152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24128"/>
            <a:ext cx="8394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 :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détecter efficacement un SMS spam à partir du seul texte du message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4251960" cy="27432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920240"/>
            <a:ext cx="425196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11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Valeur métier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4023360" cy="420624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45973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Filtrer automatiquement les messages suspects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98648"/>
            <a:ext cx="4023360" cy="420624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96265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Réduire l'exposition aux contenus frauduleux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01568"/>
            <a:ext cx="4023360" cy="420624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46557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Améliorer l'expérience utilisateur AT&amp;T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04488"/>
            <a:ext cx="4023360" cy="420624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96849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Première brique d'un système de modération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920240"/>
            <a:ext cx="4251960" cy="27432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920240"/>
            <a:ext cx="425196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011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Données disponibles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2395728"/>
            <a:ext cx="3977640" cy="420624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3" name="Shape 21"/>
          <p:cNvSpPr/>
          <p:nvPr/>
        </p:nvSpPr>
        <p:spPr>
          <a:xfrm>
            <a:off x="4800600" y="2395728"/>
            <a:ext cx="54864" cy="42062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45973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245973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textuel du SMS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898648"/>
            <a:ext cx="3977640" cy="420624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2898648"/>
            <a:ext cx="54864" cy="4206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96265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296265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observée (ham / spam)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401568"/>
            <a:ext cx="3977640" cy="420624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0600" y="3401568"/>
            <a:ext cx="54864" cy="42062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4655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346557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normal — 4 825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904488"/>
            <a:ext cx="3977640" cy="420624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0600" y="3904488"/>
            <a:ext cx="54864" cy="42062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96849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396849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indésirable — 747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4800600"/>
            <a:ext cx="8686800" cy="292608"/>
          </a:xfrm>
          <a:prstGeom prst="rect">
            <a:avLst/>
          </a:prstGeom>
          <a:solidFill>
            <a:srgbClr val="1A1500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8188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Idée directrice : 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un texte brut en décision binaire exploitable via un pipeline NLP + deep learning.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de la cible &amp; choix de métrique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6400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precision, recall et F1-score sont nécessaires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91440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3794760"/>
            <a:ext cx="2057400" cy="868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3794760"/>
            <a:ext cx="64008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858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86,6 %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4251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77440" y="3794760"/>
            <a:ext cx="2057400" cy="868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77440" y="3794760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2468880" y="3858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13,4 %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468880" y="4251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914400"/>
            <a:ext cx="4251960" cy="22860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914400"/>
            <a:ext cx="425196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005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Pourquoi l'accuracy ne suffit pas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00600" y="137160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qui prédirait toujours "ham" obtiendrait déjà 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86,6 % d'accuracy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sans rien apprendre.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piloter sur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F1-score, precision et recall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mesurer la vraie capacité du modèle à détecter la classe rare (spam).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3337560"/>
            <a:ext cx="4251960" cy="1783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3337560"/>
            <a:ext cx="425196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3429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Les 4 métriques clés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00600" y="3776472"/>
            <a:ext cx="3977640" cy="34747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2" name="Text 19"/>
          <p:cNvSpPr/>
          <p:nvPr/>
        </p:nvSpPr>
        <p:spPr>
          <a:xfrm>
            <a:off x="4910328" y="3813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70448" y="38130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(TP+FP) — fiabilité des spams prédits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00600" y="4187952"/>
            <a:ext cx="3977640" cy="34747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5" name="Text 22"/>
          <p:cNvSpPr/>
          <p:nvPr/>
        </p:nvSpPr>
        <p:spPr>
          <a:xfrm>
            <a:off x="4910328" y="4224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70448" y="42245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(TP+FN) — part des vrais spams trouvés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800600" y="4599432"/>
            <a:ext cx="3977640" cy="34747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8" name="Text 25"/>
          <p:cNvSpPr/>
          <p:nvPr/>
        </p:nvSpPr>
        <p:spPr>
          <a:xfrm>
            <a:off x="4910328" y="4636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870448" y="46360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precision × recall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NLP — du texte brut à la séquence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6400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un SMS en tableau numérique utilisable par un réseau de neurones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37160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" y="1078992"/>
            <a:ext cx="384048" cy="38404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" y="153619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brut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" y="1801368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5 572 messages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146304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91640" y="960120"/>
            <a:ext cx="137160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91640" y="960120"/>
            <a:ext cx="1371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185416" y="1078992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185416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28216" y="153619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28216" y="1801368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ham=0 · spam=1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63240" y="146304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54680" y="960120"/>
            <a:ext cx="137160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960120"/>
            <a:ext cx="13716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Shape 19"/>
          <p:cNvSpPr/>
          <p:nvPr/>
        </p:nvSpPr>
        <p:spPr>
          <a:xfrm>
            <a:off x="3648456" y="1078992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3648456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91256" y="153619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91256" y="1801368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stratify=y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146304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17720" y="960120"/>
            <a:ext cx="137160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960120"/>
            <a:ext cx="13716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5111496" y="107899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5111496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54296" y="153619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54296" y="1801368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mots max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89320" y="146304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80760" y="960120"/>
            <a:ext cx="137160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960120"/>
            <a:ext cx="13716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Shape 33"/>
          <p:cNvSpPr/>
          <p:nvPr/>
        </p:nvSpPr>
        <p:spPr>
          <a:xfrm>
            <a:off x="6574536" y="1078992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6574536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17336" y="153619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17336" y="1801368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→ entiers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52360" y="146304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543800" y="960120"/>
            <a:ext cx="137160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43800" y="960120"/>
            <a:ext cx="1371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8037576" y="1078992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8037576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80376" y="153619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0376" y="1801368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50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2423160"/>
            <a:ext cx="2816352" cy="26974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28600" y="2423160"/>
            <a:ext cx="64008" cy="2697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24871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Choix clés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2834640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50" name="Text 48"/>
          <p:cNvSpPr/>
          <p:nvPr/>
        </p:nvSpPr>
        <p:spPr>
          <a:xfrm>
            <a:off x="429768" y="287121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num_words = 5000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9768" y="307238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Couvre ~63% du vocab réel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3364992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53" name="Text 51"/>
          <p:cNvSpPr/>
          <p:nvPr/>
        </p:nvSpPr>
        <p:spPr>
          <a:xfrm>
            <a:off x="429768" y="34015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maxlen = 50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9768" y="36027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Couvre 95% des SMS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3895344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56" name="Text 54"/>
          <p:cNvSpPr/>
          <p:nvPr/>
        </p:nvSpPr>
        <p:spPr>
          <a:xfrm>
            <a:off x="429768" y="393192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embedding_dim = 32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9768" y="413308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expressivité/vitesse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65760" y="4425696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59" name="Text 57"/>
          <p:cNvSpPr/>
          <p:nvPr/>
        </p:nvSpPr>
        <p:spPr>
          <a:xfrm>
            <a:off x="429768" y="446227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 = 'post'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9768" y="46634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Préserve le début du message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00400" y="2423160"/>
            <a:ext cx="2816352" cy="26974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200400" y="2423160"/>
            <a:ext cx="64008" cy="2697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3" name="Text 61"/>
          <p:cNvSpPr/>
          <p:nvPr/>
        </p:nvSpPr>
        <p:spPr>
          <a:xfrm>
            <a:off x="3337560" y="24871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Anti-fuite de données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337560" y="2834640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65" name="Text 63"/>
          <p:cNvSpPr/>
          <p:nvPr/>
        </p:nvSpPr>
        <p:spPr>
          <a:xfrm>
            <a:off x="3401568" y="287121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401568" y="307238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uniquement sur le train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337560" y="3364992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68" name="Text 66"/>
          <p:cNvSpPr/>
          <p:nvPr/>
        </p:nvSpPr>
        <p:spPr>
          <a:xfrm>
            <a:off x="3401568" y="34015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stratify=y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401568" y="36027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Proportions ham/spam préservées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337560" y="3895344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71" name="Text 69"/>
          <p:cNvSpPr/>
          <p:nvPr/>
        </p:nvSpPr>
        <p:spPr>
          <a:xfrm>
            <a:off x="3401568" y="393192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401568" y="413308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(SEED=42)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337560" y="4425696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74" name="Text 72"/>
          <p:cNvSpPr/>
          <p:nvPr/>
        </p:nvSpPr>
        <p:spPr>
          <a:xfrm>
            <a:off x="3401568" y="446227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validation_split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401568" y="46634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du train pour val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172200" y="2423160"/>
            <a:ext cx="2816352" cy="26974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172200" y="2423160"/>
            <a:ext cx="64008" cy="2697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8" name="Text 76"/>
          <p:cNvSpPr/>
          <p:nvPr/>
        </p:nvSpPr>
        <p:spPr>
          <a:xfrm>
            <a:off x="6309360" y="24871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Régularisation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309360" y="2834640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80" name="Text 78"/>
          <p:cNvSpPr/>
          <p:nvPr/>
        </p:nvSpPr>
        <p:spPr>
          <a:xfrm>
            <a:off x="6373368" y="287121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 0.3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373368" y="307238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neurones désactivés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309360" y="3364992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83" name="Text 81"/>
          <p:cNvSpPr/>
          <p:nvPr/>
        </p:nvSpPr>
        <p:spPr>
          <a:xfrm>
            <a:off x="6373368" y="34015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EarlyStopping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373368" y="36027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patience=3, val_loss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309360" y="3895344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86" name="Text 84"/>
          <p:cNvSpPr/>
          <p:nvPr/>
        </p:nvSpPr>
        <p:spPr>
          <a:xfrm>
            <a:off x="6373368" y="393192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restore_best_weights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373368" y="413308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le meilleur epoch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309360" y="4425696"/>
            <a:ext cx="2606040" cy="438912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89" name="Text 87"/>
          <p:cNvSpPr/>
          <p:nvPr/>
        </p:nvSpPr>
        <p:spPr>
          <a:xfrm>
            <a:off x="6373368" y="446227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binary_crossentropy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373368" y="46634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adaptée binaire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architectures Deep Learning testées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6400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baseline simple au transfer learning pré-entraîné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16352" cy="41605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816352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 — Embedding + GAP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🏆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2606040" cy="1691640"/>
          </a:xfrm>
          <a:prstGeom prst="rect">
            <a:avLst/>
          </a:prstGeom>
          <a:solidFill>
            <a:srgbClr val="0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3736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Embedding(5000, 32)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GlobalAveragePooling1D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Dense(16, relu)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Dropout(0.3)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Dense(1, sigmoid)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4747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730752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rapide, efficace sur texte court. L'embedding est appris from scratch.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816352" cy="41605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60120"/>
            <a:ext cx="2816352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0515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2 — Embedding + LSTM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3716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récurrente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1664208"/>
            <a:ext cx="2606040" cy="1691640"/>
          </a:xfrm>
          <a:prstGeom prst="rect">
            <a:avLst/>
          </a:prstGeom>
          <a:solidFill>
            <a:srgbClr val="0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73736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Embedding(5000, 32)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LSTM(32)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Dropout(0.3)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Dense(16, relu)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Dense(1, sigmoid)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34747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730752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 l'ordre des mots dans la séquence. Plus complexe.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960120"/>
            <a:ext cx="2816352" cy="41605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960120"/>
            <a:ext cx="2816352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0515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3 — Transfer Learning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3716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NNLM pré-entraîné Google News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1664208"/>
            <a:ext cx="2606040" cy="1691640"/>
          </a:xfrm>
          <a:prstGeom prst="rect">
            <a:avLst/>
          </a:prstGeom>
          <a:solidFill>
            <a:srgbClr val="0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73736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Input(string)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NNLM-en-dim50 (TF Hub)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Dropout(0.3)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Dense(16, relu)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Dense(1, sigmoid)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34747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730752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Encodeur pré-entraîné sur des milliards de mots. Fine-tuning sur nos SMS.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3 modèles — F1-score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400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le plus simple gagne — un résultat instructif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86868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59552" y="868680"/>
            <a:ext cx="3355848" cy="93268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59552" y="868680"/>
            <a:ext cx="64008" cy="9326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5687568" y="932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Embedding + GAP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26680" y="932688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0,9448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87568" y="1325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sur les 4 métriques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59552" y="1920240"/>
            <a:ext cx="3355848" cy="93268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59552" y="1920240"/>
            <a:ext cx="64008" cy="9326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5687568" y="1984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Embedding + LSTM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26680" y="1984248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0,8643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87568" y="2377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complexe sans gain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59552" y="2971800"/>
            <a:ext cx="3355848" cy="93268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59552" y="2971800"/>
            <a:ext cx="64008" cy="9326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5687568" y="30358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Transfer Learning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26680" y="3035808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0,8425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87568" y="3429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Google News→SMS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28600" y="4224528"/>
            <a:ext cx="8686800" cy="841248"/>
          </a:xfrm>
          <a:prstGeom prst="rect">
            <a:avLst/>
          </a:prstGeom>
          <a:solidFill>
            <a:srgbClr val="0F1F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28600" y="4224528"/>
            <a:ext cx="64008" cy="8412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0"/>
          <p:cNvSpPr/>
          <p:nvPr/>
        </p:nvSpPr>
        <p:spPr>
          <a:xfrm>
            <a:off x="384048" y="4251960"/>
            <a:ext cx="8412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Conclusion :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</a:t>
            </a:r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GAP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surpasse les deux autres sur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métriques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simplicité, bien calibrée sur des données bien préparées, bat les architectures plus complexes mal adaptées au problème.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— Embedding + GAP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400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détaillée du modèle gagnant sur le test 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084832" cy="8229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08483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8755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0,9857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4264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914400"/>
            <a:ext cx="2084832" cy="8229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914400"/>
            <a:ext cx="20848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441448" y="98755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0,9716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41448" y="14264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4296" y="914400"/>
            <a:ext cx="2084832" cy="8229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54296" y="914400"/>
            <a:ext cx="208483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654296" y="98755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0,9195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54296" y="14264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67144" y="914400"/>
            <a:ext cx="2084832" cy="8229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67144" y="914400"/>
            <a:ext cx="2084832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867144" y="98755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0,9448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67144" y="14264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1920240"/>
            <a:ext cx="4251960" cy="30175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1920240"/>
            <a:ext cx="425196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011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Matrice de confusion sur le test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423160"/>
            <a:ext cx="1280160" cy="329184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4231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91640" y="2423160"/>
            <a:ext cx="1280160" cy="329184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7" name="Text 25"/>
          <p:cNvSpPr/>
          <p:nvPr/>
        </p:nvSpPr>
        <p:spPr>
          <a:xfrm>
            <a:off x="1691640" y="24231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ham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2423160"/>
            <a:ext cx="1280160" cy="329184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9" name="Text 27"/>
          <p:cNvSpPr/>
          <p:nvPr/>
        </p:nvSpPr>
        <p:spPr>
          <a:xfrm>
            <a:off x="3017520" y="24231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spam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779776"/>
            <a:ext cx="1280160" cy="41148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7797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ham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691640" y="2779776"/>
            <a:ext cx="1280160" cy="41148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3" name="Text 31"/>
          <p:cNvSpPr/>
          <p:nvPr/>
        </p:nvSpPr>
        <p:spPr>
          <a:xfrm>
            <a:off x="1691640" y="27797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962 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017520" y="2779776"/>
            <a:ext cx="1280160" cy="41148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5" name="Text 33"/>
          <p:cNvSpPr/>
          <p:nvPr/>
        </p:nvSpPr>
        <p:spPr>
          <a:xfrm>
            <a:off x="3017520" y="27797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(FP)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236976"/>
            <a:ext cx="1280160" cy="41148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2369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spam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691640" y="3236976"/>
            <a:ext cx="1280160" cy="41148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9" name="Text 37"/>
          <p:cNvSpPr/>
          <p:nvPr/>
        </p:nvSpPr>
        <p:spPr>
          <a:xfrm>
            <a:off x="1691640" y="32369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(FN)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17520" y="3236976"/>
            <a:ext cx="1280160" cy="41148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1" name="Text 39"/>
          <p:cNvSpPr/>
          <p:nvPr/>
        </p:nvSpPr>
        <p:spPr>
          <a:xfrm>
            <a:off x="3017520" y="32369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" y="37490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sur 1 115 SMS testés 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40233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962 ham bien classés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" y="42519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137 spams correctement détectés (sur 149)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1480" y="44805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 faux positifs seulement → UX préservée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7091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12 spams ratés → 8,05% de fuite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1920240"/>
            <a:ext cx="4251960" cy="30175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1920240"/>
            <a:ext cx="425196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2011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Pourquoi ce modèle gagne ?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00600" y="2395728"/>
            <a:ext cx="3977640" cy="50292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51" name="Shape 49"/>
          <p:cNvSpPr/>
          <p:nvPr/>
        </p:nvSpPr>
        <p:spPr>
          <a:xfrm>
            <a:off x="4892040" y="2514600"/>
            <a:ext cx="274320" cy="2743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2" name="Text 50"/>
          <p:cNvSpPr/>
          <p:nvPr/>
        </p:nvSpPr>
        <p:spPr>
          <a:xfrm>
            <a:off x="48920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57800" y="2432304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aux SMS courts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57800" y="265176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fait une moyenne globale, parfaite pour des textes de 15-20 tokens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00600" y="2990088"/>
            <a:ext cx="3977640" cy="50292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56" name="Shape 54"/>
          <p:cNvSpPr/>
          <p:nvPr/>
        </p:nvSpPr>
        <p:spPr>
          <a:xfrm>
            <a:off x="4892040" y="310896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489204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57800" y="3026664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from scratch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257800" y="324612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L'embedding apprend le langage SMS spécifique (codes, abréviations)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00600" y="3584448"/>
            <a:ext cx="3977640" cy="50292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61" name="Shape 59"/>
          <p:cNvSpPr/>
          <p:nvPr/>
        </p:nvSpPr>
        <p:spPr>
          <a:xfrm>
            <a:off x="4892040" y="370332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2" name="Text 60"/>
          <p:cNvSpPr/>
          <p:nvPr/>
        </p:nvSpPr>
        <p:spPr>
          <a:xfrm>
            <a:off x="489204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257800" y="3621024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efficace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257800" y="384048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 + EarlyStopping → pas de surapprentissage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800600" y="4178808"/>
            <a:ext cx="3977640" cy="50292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66" name="Shape 64"/>
          <p:cNvSpPr/>
          <p:nvPr/>
        </p:nvSpPr>
        <p:spPr>
          <a:xfrm>
            <a:off x="4892040" y="429768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7" name="Text 65"/>
          <p:cNvSpPr/>
          <p:nvPr/>
        </p:nvSpPr>
        <p:spPr>
          <a:xfrm>
            <a:off x="4892040" y="4297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257800" y="4215384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domain shift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257800" y="443484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entraîné directement sur les données cibles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LSTM et Transfer Learning échouent ici 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6400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résultat contre-intuitif mais explicable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51960" cy="4023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4251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Modèle 2 — LSTM (F1 = 0,8643)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récurrente conçue pour les dépendances longues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4023360" cy="1097280"/>
          </a:xfrm>
          <a:prstGeom prst="rect">
            <a:avLst/>
          </a:prstGeom>
          <a:solidFill>
            <a:srgbClr val="1A0F0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673352"/>
            <a:ext cx="382219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Le problème :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SMS sont très courts (~15-20 tokens). Les dépendances séquentielles longues que le LSTM est conçu pour capturer </a:t>
            </a:r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n'existent quasiment pas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des SMS.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4023360" cy="1188720"/>
          </a:xfrm>
          <a:prstGeom prst="rect">
            <a:avLst/>
          </a:prstGeom>
          <a:solidFill>
            <a:srgbClr val="0F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862072"/>
            <a:ext cx="382219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Conséquence :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paramètres = plus d'overfitting potentiel, sans bénéfice. 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LSTM apporte de la complexité sans valeur ajoutée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il faut un texte plus long pour qu'il devienne pertinent.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160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Sur du texte long (avis, articles), le LSTM redevient pertinent.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251960" cy="4023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14400"/>
            <a:ext cx="425196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Modèle 3 — Transfer Learning (F1 = 0,8425)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29844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NNLM pré-entraîné sur le corpus Google News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1627632"/>
            <a:ext cx="4023360" cy="1097280"/>
          </a:xfrm>
          <a:prstGeom prst="rect">
            <a:avLst/>
          </a:prstGeom>
          <a:solidFill>
            <a:srgbClr val="1A0F0F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1673352"/>
            <a:ext cx="382219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Le problème :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NNLM a été pré-entraîné sur Google News (articles formels). Les SMS sont informels (abréviations, fautes, codes type 'FREE!', 'Txt STOP'). </a:t>
            </a:r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trop grand.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816352"/>
            <a:ext cx="4023360" cy="1188720"/>
          </a:xfrm>
          <a:prstGeom prst="rect">
            <a:avLst/>
          </a:prstGeom>
          <a:solidFill>
            <a:srgbClr val="0F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2862072"/>
            <a:ext cx="382219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Conséquence :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pré-entraînement n'apporte pas l'avantage attendu — au contraire, les embeddings figés au départ tirent le modèle vers un langage qui n'est pas celui des SMS.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4160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transfer learning n'est pas toujours meilleur : la distance source/cible est cruciale.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Enseignements &amp; pistes d'amélioration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400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révèle et ce qu'on pourrait pousser plus loin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51960" cy="10058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420624" cy="42062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07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024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simplicité gagne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3258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simple bien calibré surpasse des architectures complexes mal adaptées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251960" cy="10058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07008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07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21808" y="1024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= problème majeur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21808" y="13258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transfer learning n'est pas toujours meilleur — la proximité source/cible est cruciale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057400"/>
            <a:ext cx="4251960" cy="10058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50008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" y="2167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&gt; Accuracy sur classe rare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4688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87/13, l'accuracy seule masque la performance réelle sur la classe minoritaire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057400"/>
            <a:ext cx="4251960" cy="10058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350008"/>
            <a:ext cx="420624" cy="42062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21808" y="2167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= sécurité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21808" y="24688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restore_best_weights évite de devoir chercher manuellement le bon epoch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8600" y="32918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Pistes d'amélioration concrètes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8600" y="3657600"/>
            <a:ext cx="4251960" cy="36576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" y="371246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Embeddings spécialisés SMS (GloVe Twitter) plutôt que NNLM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657600"/>
            <a:ext cx="4251960" cy="36576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371246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Tuning de seuil de décision selon le coût métier des FN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114800"/>
            <a:ext cx="4251960" cy="36576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" y="416966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class_weight='balanced' pour compenser explicitement le déséquilibre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4114800"/>
            <a:ext cx="4251960" cy="36576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416966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Fine-tuning d'un modèle Transformer (BERT, DistilBERT)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4572000"/>
            <a:ext cx="4251960" cy="36576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" y="462686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Validation croisée 5-fold stratifiée pour la robustesse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572000"/>
            <a:ext cx="4251960" cy="365760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462686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API REST avec FastAPI pour intégration applicative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 📱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Réponses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2212848"/>
            <a:ext cx="36576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395728"/>
            <a:ext cx="8229600" cy="16002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95728"/>
            <a:ext cx="73152" cy="1600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450592"/>
            <a:ext cx="7955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démontre
</a:t>
            </a:r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Pipeline NLP complet : Tokenizer → Sequences → Padding → Embedding
</a:t>
            </a:r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Comparaison rigoureuse : baseline simple vs LSTM vs Transfer Learning
</a:t>
            </a:r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Métrique adaptée : F1-score sur classe rare + matrice de confusion
</a:t>
            </a:r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Lecture critique : pourquoi un modèle complexe peut échouer
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principal : </a:t>
            </a:r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complexité architecturale n'est pas une fin en soi. Un modèle simple bien préparé bat souvent un modèle sophistiqué mal adapté.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Birane WANE  ·  JEDHA Bootcamp  ·  Bloc 4  ·  github.com/BiraneWANE/atm-spam-detector_Birane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1993392" cy="74980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251960"/>
            <a:ext cx="199339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32511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0,9448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465429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4251960"/>
            <a:ext cx="1993392" cy="74980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18" name="Shape 16"/>
          <p:cNvSpPr/>
          <p:nvPr/>
        </p:nvSpPr>
        <p:spPr>
          <a:xfrm>
            <a:off x="2560320" y="4251960"/>
            <a:ext cx="199339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432511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0,9716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560320" y="465429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4251960"/>
            <a:ext cx="1993392" cy="74980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4251960"/>
            <a:ext cx="199339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432511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0,9195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63440" y="465429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4251960"/>
            <a:ext cx="1993392" cy="74980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766560" y="4251960"/>
            <a:ext cx="199339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32511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66560" y="465429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spams détectés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2026-05-19T20:24:05Z</dcterms:created>
  <dcterms:modified xsi:type="dcterms:W3CDTF">2026-05-19T20:24:05Z</dcterms:modified>
</cp:coreProperties>
</file>